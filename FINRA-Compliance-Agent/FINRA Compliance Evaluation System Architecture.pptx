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257300"/>
            <a:ext cx="6998940" cy="1417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5580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FINRA Compliance</a:t>
            </a:r>
            <a:pPr indent="0" marL="0">
              <a:lnSpc>
                <a:spcPts val="5580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5580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System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42950" y="3038475"/>
            <a:ext cx="6296918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63B0E8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AI-Powered Architecture for</a:t>
            </a:r>
            <a:pPr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63B0E8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63B0E8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Financial Text Analysis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742950" y="4429125"/>
            <a:ext cx="5815013" cy="5944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C0C0C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Automated Risk Detection &amp;</a:t>
            </a:r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C0C0C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C0C0C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Regulatory Compliance Monitoring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38029"/>
            <a:ext cx="4657279" cy="31957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1141095" y="533400"/>
            <a:ext cx="15236190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4031"/>
              </a:lnSpc>
              <a:buNone/>
            </a:pPr>
            <a:r>
              <a:rPr lang="en-US" sz="32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START: Synthetic Data Generator</a:t>
            </a:r>
            <a:endParaRPr lang="en-US" sz="3225" dirty="0"/>
          </a:p>
        </p:txBody>
      </p:sp>
      <p:sp>
        <p:nvSpPr>
          <p:cNvPr id="5" name="Text 1"/>
          <p:cNvSpPr/>
          <p:nvPr/>
        </p:nvSpPr>
        <p:spPr>
          <a:xfrm>
            <a:off x="-426259" y="1133475"/>
            <a:ext cx="13590270" cy="3591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828"/>
              </a:lnSpc>
              <a:buNone/>
            </a:pPr>
            <a:r>
              <a:rPr lang="en-US" sz="2175" dirty="0">
                <a:solidFill>
                  <a:srgbClr val="62B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Foundation Layer of the Compliance System</a:t>
            </a:r>
            <a:endParaRPr lang="en-US" sz="2175" dirty="0"/>
          </a:p>
        </p:txBody>
      </p:sp>
      <p:sp>
        <p:nvSpPr>
          <p:cNvPr id="6" name="Text 2"/>
          <p:cNvSpPr/>
          <p:nvPr/>
        </p:nvSpPr>
        <p:spPr>
          <a:xfrm>
            <a:off x="657225" y="1952625"/>
            <a:ext cx="11682413" cy="8173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7"/>
              </a:lnSpc>
              <a:buNone/>
            </a:pPr>
            <a:r>
              <a:rPr lang="en-US" sz="2475" dirty="0">
                <a:solidFill>
                  <a:srgbClr val="C1C1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initiates with a generator creating nine financial texts</a:t>
            </a:r>
            <a:pPr indent="0" marL="0">
              <a:lnSpc>
                <a:spcPts val="3217"/>
              </a:lnSpc>
              <a:buNone/>
            </a:pPr>
            <a:r>
              <a:rPr lang="en-US" sz="2475" dirty="0">
                <a:solidFill>
                  <a:srgbClr val="C1C1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3217"/>
              </a:lnSpc>
              <a:buNone/>
            </a:pPr>
            <a:r>
              <a:rPr lang="en-US" sz="2475" dirty="0">
                <a:solidFill>
                  <a:srgbClr val="C1C1C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labeled as high, medium, and low risk ground truth</a:t>
            </a:r>
            <a:endParaRPr lang="en-US" sz="2475" dirty="0"/>
          </a:p>
        </p:txBody>
      </p:sp>
      <p:sp>
        <p:nvSpPr>
          <p:cNvPr id="7" name="Text 3"/>
          <p:cNvSpPr/>
          <p:nvPr/>
        </p:nvSpPr>
        <p:spPr>
          <a:xfrm>
            <a:off x="5895975" y="3067050"/>
            <a:ext cx="2965103" cy="5697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Generates 9 distinct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financial text samples</a:t>
            </a:r>
            <a:endParaRPr lang="en-US" sz="1725" dirty="0"/>
          </a:p>
        </p:txBody>
      </p:sp>
      <p:sp>
        <p:nvSpPr>
          <p:cNvPr id="8" name="Text 4"/>
          <p:cNvSpPr/>
          <p:nvPr/>
        </p:nvSpPr>
        <p:spPr>
          <a:xfrm>
            <a:off x="5895975" y="3829050"/>
            <a:ext cx="3394621" cy="5697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Each text pre-labeled with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known risk level</a:t>
            </a:r>
            <a:endParaRPr lang="en-US" sz="1725" dirty="0"/>
          </a:p>
        </p:txBody>
      </p:sp>
      <p:sp>
        <p:nvSpPr>
          <p:cNvPr id="9" name="Text 5"/>
          <p:cNvSpPr/>
          <p:nvPr/>
        </p:nvSpPr>
        <p:spPr>
          <a:xfrm>
            <a:off x="5895975" y="4581525"/>
            <a:ext cx="2933700" cy="5697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Creates ground truth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for evaluation</a:t>
            </a:r>
            <a:endParaRPr lang="en-US" sz="1725" dirty="0"/>
          </a:p>
        </p:txBody>
      </p:sp>
      <p:sp>
        <p:nvSpPr>
          <p:cNvPr id="10" name="Text 6"/>
          <p:cNvSpPr/>
          <p:nvPr/>
        </p:nvSpPr>
        <p:spPr>
          <a:xfrm>
            <a:off x="5895975" y="5334000"/>
            <a:ext cx="3447008" cy="8545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Ensures balanced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representation across risk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categories</a:t>
            </a:r>
            <a:endParaRPr lang="en-US" sz="1725" dirty="0"/>
          </a:p>
        </p:txBody>
      </p:sp>
      <p:sp>
        <p:nvSpPr>
          <p:cNvPr id="11" name="Text 7"/>
          <p:cNvSpPr/>
          <p:nvPr/>
        </p:nvSpPr>
        <p:spPr>
          <a:xfrm>
            <a:off x="9372600" y="3514725"/>
            <a:ext cx="408051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Distribution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9372600" y="3943350"/>
            <a:ext cx="2483048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3 HIGH RISK texts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3 MEDIUM RISK texts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3 LOW RISK texts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196" y="2743200"/>
            <a:ext cx="548580" cy="65142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557" y="2743200"/>
            <a:ext cx="572988" cy="6514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71" y="2743200"/>
            <a:ext cx="560784" cy="65142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-15776" y="371475"/>
            <a:ext cx="12801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Parallel Input Streams</a:t>
            </a:r>
            <a:endParaRPr lang="en-US" sz="3000" dirty="0"/>
          </a:p>
        </p:txBody>
      </p:sp>
      <p:sp>
        <p:nvSpPr>
          <p:cNvPr id="7" name="Text 1"/>
          <p:cNvSpPr/>
          <p:nvPr/>
        </p:nvSpPr>
        <p:spPr>
          <a:xfrm>
            <a:off x="-31924" y="914400"/>
            <a:ext cx="1280160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Risk-Categorized Financial Text Analysis</a:t>
            </a:r>
            <a:endParaRPr lang="en-US" sz="2100" dirty="0"/>
          </a:p>
        </p:txBody>
      </p:sp>
      <p:sp>
        <p:nvSpPr>
          <p:cNvPr id="8" name="Text 2"/>
          <p:cNvSpPr/>
          <p:nvPr/>
        </p:nvSpPr>
        <p:spPr>
          <a:xfrm>
            <a:off x="962025" y="2085975"/>
            <a:ext cx="416052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RISK TEXT</a:t>
            </a:r>
            <a:endParaRPr lang="en-US" sz="1950" dirty="0"/>
          </a:p>
        </p:txBody>
      </p:sp>
      <p:sp>
        <p:nvSpPr>
          <p:cNvPr id="9" name="Text 3"/>
          <p:cNvSpPr/>
          <p:nvPr/>
        </p:nvSpPr>
        <p:spPr>
          <a:xfrm>
            <a:off x="4800600" y="2085975"/>
            <a:ext cx="475488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MEDIUM RISK TEXT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8639175" y="2085975"/>
            <a:ext cx="3714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RISK TEXT</a:t>
            </a:r>
            <a:endParaRPr lang="en-US" sz="1875" dirty="0"/>
          </a:p>
        </p:txBody>
      </p:sp>
      <p:sp>
        <p:nvSpPr>
          <p:cNvPr id="11" name="Text 5"/>
          <p:cNvSpPr/>
          <p:nvPr/>
        </p:nvSpPr>
        <p:spPr>
          <a:xfrm>
            <a:off x="1685925" y="2828925"/>
            <a:ext cx="2430661" cy="4560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Guaranteed returns and</a:t>
            </a:r>
            <a:pPr indent="0" marL="0">
              <a:lnSpc>
                <a:spcPts val="17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17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misleading claims</a:t>
            </a:r>
            <a:endParaRPr lang="en-US" sz="1425" dirty="0"/>
          </a:p>
        </p:txBody>
      </p:sp>
      <p:sp>
        <p:nvSpPr>
          <p:cNvPr id="12" name="Text 6"/>
          <p:cNvSpPr/>
          <p:nvPr/>
        </p:nvSpPr>
        <p:spPr>
          <a:xfrm>
            <a:off x="5534025" y="2828925"/>
            <a:ext cx="2043113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Vague performance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implications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9296400" y="2828925"/>
            <a:ext cx="1204913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Compliant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disclosures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962025" y="3914775"/>
            <a:ext cx="3405188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Promises of specific returns,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Exaggerated performance claims,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Omitted risk disclosures</a:t>
            </a:r>
            <a:endParaRPr lang="en-US" sz="1425" dirty="0"/>
          </a:p>
        </p:txBody>
      </p:sp>
      <p:sp>
        <p:nvSpPr>
          <p:cNvPr id="15" name="Text 9"/>
          <p:cNvSpPr/>
          <p:nvPr/>
        </p:nvSpPr>
        <p:spPr>
          <a:xfrm>
            <a:off x="4800600" y="3914775"/>
            <a:ext cx="2881313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Unclear return expectations,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Ambiguous risk statements,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Partial compliance language</a:t>
            </a:r>
            <a:endParaRPr lang="en-US" sz="1425" dirty="0"/>
          </a:p>
        </p:txBody>
      </p:sp>
      <p:sp>
        <p:nvSpPr>
          <p:cNvPr id="16" name="Text 10"/>
          <p:cNvSpPr/>
          <p:nvPr/>
        </p:nvSpPr>
        <p:spPr>
          <a:xfrm>
            <a:off x="8639175" y="3990975"/>
            <a:ext cx="3111698" cy="6170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Clear risk warnings,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Appropriate disclaimers,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Regulatory compliance language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019175" y="3752850"/>
            <a:ext cx="1280160" cy="1829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857750" y="3752850"/>
            <a:ext cx="1280160" cy="1829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639175" y="3752850"/>
            <a:ext cx="1280160" cy="1829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Example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177" y="1913334"/>
            <a:ext cx="10765482" cy="42107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2420838" y="466725"/>
            <a:ext cx="18002250" cy="5743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4522"/>
              </a:lnSpc>
              <a:buNone/>
            </a:pPr>
            <a:r>
              <a:rPr lang="en-US" sz="3375" b="1" dirty="0">
                <a:solidFill>
                  <a:srgbClr val="FBFB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LLM ENGINE and FINRA Context</a:t>
            </a:r>
            <a:endParaRPr lang="en-US" sz="3375" dirty="0"/>
          </a:p>
        </p:txBody>
      </p:sp>
      <p:sp>
        <p:nvSpPr>
          <p:cNvPr id="5" name="Text 1"/>
          <p:cNvSpPr/>
          <p:nvPr/>
        </p:nvSpPr>
        <p:spPr>
          <a:xfrm>
            <a:off x="-1546860" y="1114425"/>
            <a:ext cx="16047720" cy="3318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13"/>
              </a:lnSpc>
              <a:buNone/>
            </a:pPr>
            <a:r>
              <a:rPr lang="en-US" sz="1950" b="1" dirty="0">
                <a:solidFill>
                  <a:srgbClr val="66B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Knowledge Integration &amp; Risk Classification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467" y="1673275"/>
            <a:ext cx="3864769" cy="4759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600075"/>
            <a:ext cx="13167360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REPORT Output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714375" y="1314450"/>
            <a:ext cx="1425321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667E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AI-Generated Analysis Results</a:t>
            </a:r>
            <a:endParaRPr lang="en-US" sz="2175" dirty="0"/>
          </a:p>
        </p:txBody>
      </p:sp>
      <p:sp>
        <p:nvSpPr>
          <p:cNvPr id="6" name="Text 2"/>
          <p:cNvSpPr/>
          <p:nvPr/>
        </p:nvSpPr>
        <p:spPr>
          <a:xfrm>
            <a:off x="714375" y="2114550"/>
            <a:ext cx="5040630" cy="2820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1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Level Assessment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4248150" y="2114550"/>
            <a:ext cx="5280660" cy="2820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1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FINRA Violations Found</a:t>
            </a:r>
            <a:endParaRPr lang="en-US" sz="1575" dirty="0"/>
          </a:p>
        </p:txBody>
      </p:sp>
      <p:sp>
        <p:nvSpPr>
          <p:cNvPr id="8" name="Text 4"/>
          <p:cNvSpPr/>
          <p:nvPr/>
        </p:nvSpPr>
        <p:spPr>
          <a:xfrm>
            <a:off x="714375" y="3829050"/>
            <a:ext cx="3600450" cy="2820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1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Flagged Phrases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4248150" y="3829050"/>
            <a:ext cx="6240780" cy="2820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1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Actionable Recommendations</a:t>
            </a:r>
            <a:endParaRPr lang="en-US" sz="1575" dirty="0"/>
          </a:p>
        </p:txBody>
      </p:sp>
      <p:sp>
        <p:nvSpPr>
          <p:cNvPr id="10" name="Text 6"/>
          <p:cNvSpPr/>
          <p:nvPr/>
        </p:nvSpPr>
        <p:spPr>
          <a:xfrm>
            <a:off x="838200" y="5467350"/>
            <a:ext cx="4343400" cy="2552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09"/>
              </a:lnSpc>
              <a:buNone/>
            </a:pPr>
            <a:r>
              <a:rPr lang="en-US" sz="1425" b="1" dirty="0">
                <a:solidFill>
                  <a:srgbClr val="0072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Analysis</a:t>
            </a:r>
            <a:endParaRPr lang="en-US" sz="1425" dirty="0"/>
          </a:p>
        </p:txBody>
      </p:sp>
      <p:sp>
        <p:nvSpPr>
          <p:cNvPr id="11" name="Text 7"/>
          <p:cNvSpPr/>
          <p:nvPr/>
        </p:nvSpPr>
        <p:spPr>
          <a:xfrm>
            <a:off x="714375" y="2486025"/>
            <a:ext cx="3656558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/ MEDIUM / LOW classification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score percentage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probability indicators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248150" y="2486025"/>
            <a:ext cx="3960465" cy="7286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 rule citations (2010, 2111, 2210)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Violation severity mapping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reference links</a:t>
            </a:r>
            <a:endParaRPr lang="en-US" sz="1275" dirty="0"/>
          </a:p>
        </p:txBody>
      </p:sp>
      <p:sp>
        <p:nvSpPr>
          <p:cNvPr id="13" name="Text 9"/>
          <p:cNvSpPr/>
          <p:nvPr/>
        </p:nvSpPr>
        <p:spPr>
          <a:xfrm>
            <a:off x="714375" y="4191000"/>
            <a:ext cx="3572768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Problematic language identification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Context-aware phrase analysis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Suggestion alternatives provided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248150" y="4191000"/>
            <a:ext cx="314325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Immediate compliance steps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mitigation strategies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Preventive measures guidance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38200" y="5838825"/>
            <a:ext cx="7543800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LLM processes each financial text through FINRA regulatory knowledge</a:t>
            </a:r>
            <a:pPr indent="0" marL="0">
              <a:lnSpc>
                <a:spcPts val="153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153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deliver precise, actionable compliance insights with full traceability.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69" y="2407146"/>
            <a:ext cx="6961584" cy="36415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0550" y="400050"/>
            <a:ext cx="15430500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63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LAYER Comparison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9305925" y="2695575"/>
            <a:ext cx="3520440" cy="5615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22"/>
              </a:lnSpc>
              <a:buNone/>
            </a:pPr>
            <a:r>
              <a:rPr lang="en-US" sz="3300" b="1" dirty="0">
                <a:solidFill>
                  <a:srgbClr val="62CC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77.8%</a:t>
            </a:r>
            <a:endParaRPr lang="en-US" sz="3300" dirty="0"/>
          </a:p>
        </p:txBody>
      </p:sp>
      <p:sp>
        <p:nvSpPr>
          <p:cNvPr id="6" name="Text 2"/>
          <p:cNvSpPr/>
          <p:nvPr/>
        </p:nvSpPr>
        <p:spPr>
          <a:xfrm>
            <a:off x="590550" y="1047750"/>
            <a:ext cx="1491615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6"/>
              </a:lnSpc>
              <a:buNone/>
            </a:pPr>
            <a:r>
              <a:rPr lang="en-US" sz="2175" dirty="0">
                <a:solidFill>
                  <a:srgbClr val="62CCFB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Performance Validation &amp; Accuracy Measurement</a:t>
            </a:r>
            <a:endParaRPr lang="en-US" sz="2175" dirty="0"/>
          </a:p>
        </p:txBody>
      </p:sp>
      <p:sp>
        <p:nvSpPr>
          <p:cNvPr id="7" name="Text 3"/>
          <p:cNvSpPr/>
          <p:nvPr/>
        </p:nvSpPr>
        <p:spPr>
          <a:xfrm>
            <a:off x="857250" y="1905000"/>
            <a:ext cx="576072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Process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8943975" y="4019550"/>
            <a:ext cx="42862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System Accuracy</a:t>
            </a:r>
            <a:endParaRPr lang="en-US" sz="1875" dirty="0"/>
          </a:p>
        </p:txBody>
      </p:sp>
      <p:sp>
        <p:nvSpPr>
          <p:cNvPr id="9" name="Text 5"/>
          <p:cNvSpPr/>
          <p:nvPr/>
        </p:nvSpPr>
        <p:spPr>
          <a:xfrm>
            <a:off x="8763000" y="4686300"/>
            <a:ext cx="609600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Correct Matches: 7/9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9001125" y="5229225"/>
            <a:ext cx="46672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Mismatches: 2/9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8639175" y="5762625"/>
            <a:ext cx="653796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Precision Rate: Strong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098" y="1625203"/>
            <a:ext cx="3474690" cy="23522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7225" y="600075"/>
            <a:ext cx="22117050" cy="4874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838"/>
              </a:lnSpc>
              <a:buNone/>
            </a:pPr>
            <a:r>
              <a:rPr lang="en-US" sz="32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OUTPUT: Google Sheets Compliance Report</a:t>
            </a:r>
            <a:endParaRPr lang="en-US" sz="3225" dirty="0"/>
          </a:p>
        </p:txBody>
      </p:sp>
      <p:sp>
        <p:nvSpPr>
          <p:cNvPr id="5" name="Text 1"/>
          <p:cNvSpPr/>
          <p:nvPr/>
        </p:nvSpPr>
        <p:spPr>
          <a:xfrm>
            <a:off x="657225" y="2371725"/>
            <a:ext cx="7093148" cy="13769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The system concludes by exporting the finalized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compliance evaluation and accuracy metrics into a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comprehensive, structured Google Sheets report for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stakeholder review and regulatory documentation.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5229225" y="4648200"/>
            <a:ext cx="6035040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Callout Box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57225" y="1200150"/>
            <a:ext cx="1600200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dirty="0">
                <a:solidFill>
                  <a:srgbClr val="5699F8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Structured Compliance Evaluation &amp; Performance Analytics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5229225" y="5143500"/>
            <a:ext cx="6297930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Automated Report Generation</a:t>
            </a:r>
            <a:endParaRPr lang="en-US" sz="1425" dirty="0"/>
          </a:p>
        </p:txBody>
      </p:sp>
      <p:sp>
        <p:nvSpPr>
          <p:cNvPr id="9" name="Text 5"/>
          <p:cNvSpPr/>
          <p:nvPr/>
        </p:nvSpPr>
        <p:spPr>
          <a:xfrm>
            <a:off x="5229225" y="5534025"/>
            <a:ext cx="64008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Risk Level Classifications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229225" y="5934075"/>
            <a:ext cx="73152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FINRA Rule Violation Citations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515350" y="5143500"/>
            <a:ext cx="6515100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Flagged Phrase Documentation</a:t>
            </a:r>
            <a:endParaRPr lang="en-US" sz="1425" dirty="0"/>
          </a:p>
        </p:txBody>
      </p:sp>
      <p:sp>
        <p:nvSpPr>
          <p:cNvPr id="12" name="Text 8"/>
          <p:cNvSpPr/>
          <p:nvPr/>
        </p:nvSpPr>
        <p:spPr>
          <a:xfrm>
            <a:off x="8515350" y="5534025"/>
            <a:ext cx="5429250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System Accuracy Metrics</a:t>
            </a:r>
            <a:endParaRPr lang="en-US" sz="1425" dirty="0"/>
          </a:p>
        </p:txBody>
      </p:sp>
      <p:sp>
        <p:nvSpPr>
          <p:cNvPr id="13" name="Text 9"/>
          <p:cNvSpPr/>
          <p:nvPr/>
        </p:nvSpPr>
        <p:spPr>
          <a:xfrm>
            <a:off x="8515350" y="5934075"/>
            <a:ext cx="5646420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Audit Trail &amp; Timestamps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2026-03-17T04:40:56Z</dcterms:created>
  <dcterms:modified xsi:type="dcterms:W3CDTF">2026-03-17T04:40:56Z</dcterms:modified>
</cp:coreProperties>
</file>